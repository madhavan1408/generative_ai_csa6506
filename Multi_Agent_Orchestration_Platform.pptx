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A6F6737-8994-1A2F-95FF-4035BD079745}">
          <p14:sldIdLst>
            <p14:sldId id="256"/>
            <p14:sldId id="257"/>
            <p14:sldId id="258"/>
          </p14:sldIdLst>
        </p14:section>
        <p14:section name="Module 1: Requirement Analysis" id="{9182E7C7-10AA-1C41-1773-C6861DF2B046}">
          <p14:sldIdLst>
            <p14:sldId id="259"/>
            <p14:sldId id="260"/>
          </p14:sldIdLst>
        </p14:section>
        <p14:section name="Module 2: Agent Architecture Design" id="{8E253DF0-C91C-6BD9-D76F-6F96F9C739A1}">
          <p14:sldIdLst>
            <p14:sldId id="261"/>
            <p14:sldId id="262"/>
            <p14:sldId id="263"/>
            <p14:sldId id="264"/>
            <p14:sldId id="265"/>
          </p14:sldIdLst>
        </p14:section>
        <p14:section name="Module 3: Implementation &amp; Validation" id="{40F045BE-6C4A-C094-7689-36F710C3BC2B}">
          <p14:sldIdLst>
            <p14:sldId id="266"/>
            <p14:sldId id="267"/>
            <p14:sldId id="268"/>
          </p14:sldIdLst>
        </p14:section>
        <p14:section name="Wrap-up" id="{E868A191-1988-3DDD-9C33-78EF74D22FE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425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platform: a system where multiple LLM-powered agents are coordinated by a central orchestrator, with every decision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naive single-agent pipelines fail silently, hide decisions and break on tool errors. The platform's two outcomes are reliable completion and traceable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runs in three modules: analyze requirements, design the architecture in UML, then implement and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functional requirements drive the design. Two non-functional requirements, reliability and traceability, shape every later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Actors: Admin registers agents and reviews logs, User submits tasks, LLM Agents receive delegated work and return results, external tools are called by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entities from the requirements: Workflow contains Tasks, Tasks are assigned to Agents, Agents use Tools, and Tasks emit LogEntries for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 enter through the API, the orchestrator mediates all coordination, agents execute, tools do the real work. Redis, the LLM API and the log store support every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patterns map directly to the project brief: Chain of Responsibility for routing, Mediator for the orchestrator, Command for tool calls, Polymorphism for agent and tool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messages. Note the Command object at step 2 and the log record at step 6, which make every decision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flow of a task. Two key decisions: whether a handler can take the task (Chain of Responsibility) and whether the result is valid (retry or fallback).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base classes enforce the contract: every tool exposes invoke(), every agent exposes can_handle(). handle() implements the chain of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test layers validate reliability. Fault injection is the important one: it proves the platform recovers from tool and LLM failures rather than failing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tool maps to a layer: Python for logic, an LLM API for agent reasoning, Redis for state, PlantUML for the design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outcomes, then the three concrete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52120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474720"/>
            <a:ext cx="5212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Multi-Agent AI Task Orchestration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Multi-Agent AI Task Orchestration Platform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4747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5"/>
                </a:solidFill>
              </a:rPr>
              <a:t>From requirement analysis to UML architecture, implementation and reliability validation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Python  ·  LLM API  ·  Redis  ·  PlantUML</a:t>
            </a:r>
            <a:endParaRPr lang="en-US" sz="1200" dirty="0"/>
          </a:p>
        </p:txBody>
      </p:sp>
      <p:sp>
        <p:nvSpPr>
          <p:cNvPr id="5" name="Graph edge 1"/>
          <p:cNvSpPr/>
          <p:nvPr/>
        </p:nvSpPr>
        <p:spPr>
          <a:xfrm flipH="1" flipV="1">
            <a:off x="6400800" y="1463040"/>
            <a:ext cx="914400" cy="10972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6" name="Graph edge 2"/>
          <p:cNvSpPr/>
          <p:nvPr/>
        </p:nvSpPr>
        <p:spPr>
          <a:xfrm flipV="1">
            <a:off x="7315200" y="1371600"/>
            <a:ext cx="914400" cy="11887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7" name="Graph edge 3"/>
          <p:cNvSpPr/>
          <p:nvPr/>
        </p:nvSpPr>
        <p:spPr>
          <a:xfrm>
            <a:off x="7315200" y="2560320"/>
            <a:ext cx="1005840" cy="10972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8" name="Graph edge 4"/>
          <p:cNvSpPr/>
          <p:nvPr/>
        </p:nvSpPr>
        <p:spPr>
          <a:xfrm flipH="1">
            <a:off x="6400800" y="2560320"/>
            <a:ext cx="914400" cy="11887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9" name="Orchestrator node"/>
          <p:cNvSpPr/>
          <p:nvPr/>
        </p:nvSpPr>
        <p:spPr>
          <a:xfrm>
            <a:off x="685800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Orchestrator</a:t>
            </a:r>
            <a:endParaRPr lang="en-US" sz="1000" dirty="0"/>
          </a:p>
        </p:txBody>
      </p:sp>
      <p:sp>
        <p:nvSpPr>
          <p:cNvPr id="11" name="Agent node 1"/>
          <p:cNvSpPr/>
          <p:nvPr/>
        </p:nvSpPr>
        <p:spPr>
          <a:xfrm>
            <a:off x="6108192" y="117043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Agent</a:t>
            </a:r>
            <a:endParaRPr lang="en-US" sz="1000" dirty="0"/>
          </a:p>
        </p:txBody>
      </p:sp>
      <p:sp>
        <p:nvSpPr>
          <p:cNvPr id="13" name="Agent node 2"/>
          <p:cNvSpPr/>
          <p:nvPr/>
        </p:nvSpPr>
        <p:spPr>
          <a:xfrm>
            <a:off x="7936992" y="1078992"/>
            <a:ext cx="585216" cy="5852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36992" y="1078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Agent</a:t>
            </a:r>
            <a:endParaRPr lang="en-US" sz="1000" dirty="0"/>
          </a:p>
        </p:txBody>
      </p:sp>
      <p:sp>
        <p:nvSpPr>
          <p:cNvPr id="15" name="Tool node 3"/>
          <p:cNvSpPr/>
          <p:nvPr/>
        </p:nvSpPr>
        <p:spPr>
          <a:xfrm>
            <a:off x="8028432" y="3364992"/>
            <a:ext cx="585216" cy="5852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28432" y="3364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Tool</a:t>
            </a:r>
            <a:endParaRPr lang="en-US" sz="1000" dirty="0"/>
          </a:p>
        </p:txBody>
      </p:sp>
      <p:sp>
        <p:nvSpPr>
          <p:cNvPr id="17" name="Tool node 4"/>
          <p:cNvSpPr/>
          <p:nvPr/>
        </p:nvSpPr>
        <p:spPr>
          <a:xfrm>
            <a:off x="6108192" y="3456432"/>
            <a:ext cx="585216" cy="5852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08192" y="3456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Tool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9B088-EA48-A16E-4961-46639E20A2F0}"/>
              </a:ext>
            </a:extLst>
          </p:cNvPr>
          <p:cNvSpPr txBox="1"/>
          <p:nvPr/>
        </p:nvSpPr>
        <p:spPr>
          <a:xfrm>
            <a:off x="6400800" y="274320"/>
            <a:ext cx="2094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Done By :</a:t>
            </a:r>
          </a:p>
          <a:p>
            <a:r>
              <a:rPr lang="en-IN" dirty="0">
                <a:solidFill>
                  <a:schemeClr val="bg1"/>
                </a:solidFill>
              </a:rPr>
              <a:t>Madhavan S</a:t>
            </a:r>
          </a:p>
          <a:p>
            <a:r>
              <a:rPr lang="en-IN" dirty="0">
                <a:solidFill>
                  <a:schemeClr val="bg1"/>
                </a:solidFill>
              </a:rPr>
              <a:t>192425113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Why orchestration matters</a:t>
            </a:r>
            <a:endParaRPr lang="en-US" sz="3400" dirty="0"/>
          </a:p>
        </p:txBody>
      </p:sp>
      <p:sp>
        <p:nvSpPr>
          <p:cNvPr id="3" name="Pain card 1"/>
          <p:cNvSpPr/>
          <p:nvPr/>
        </p:nvSpPr>
        <p:spPr>
          <a:xfrm>
            <a:off x="457200" y="1280160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Silent failures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single LLM call can fail or hallucinate with no recovery path.</a:t>
            </a:r>
            <a:endParaRPr lang="en-US" sz="1400" dirty="0"/>
          </a:p>
        </p:txBody>
      </p:sp>
      <p:sp>
        <p:nvSpPr>
          <p:cNvPr id="7" name="Pain card 2"/>
          <p:cNvSpPr/>
          <p:nvPr/>
        </p:nvSpPr>
        <p:spPr>
          <a:xfrm>
            <a:off x="457200" y="2377440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14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Opaque decisions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record of which agent acted, why, or with which tool.</a:t>
            </a:r>
            <a:endParaRPr lang="en-US" sz="1400" dirty="0"/>
          </a:p>
        </p:txBody>
      </p:sp>
      <p:sp>
        <p:nvSpPr>
          <p:cNvPr id="11" name="Pain card 3"/>
          <p:cNvSpPr/>
          <p:nvPr/>
        </p:nvSpPr>
        <p:spPr>
          <a:xfrm>
            <a:off x="457200" y="3474720"/>
            <a:ext cx="50292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/>
          <p:nvPr/>
        </p:nvSpPr>
        <p:spPr>
          <a:xfrm>
            <a:off x="640080" y="373075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11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Cascading tool errors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timeout can stall an entire multi-step workflow.</a:t>
            </a:r>
            <a:endParaRPr lang="en-US" sz="1400" dirty="0"/>
          </a:p>
        </p:txBody>
      </p:sp>
      <p:sp>
        <p:nvSpPr>
          <p:cNvPr id="15" name="Goal card"/>
          <p:cNvSpPr/>
          <p:nvPr/>
        </p:nvSpPr>
        <p:spPr>
          <a:xfrm>
            <a:off x="5760720" y="1280160"/>
            <a:ext cx="2926080" cy="315468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8932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PLATFORM GOAL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task completion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+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200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 agent decisions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roadmap: three modules</a:t>
            </a:r>
            <a:endParaRPr lang="en-US" sz="34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28016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Requirement Analysis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Functional requirements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Case diagram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Core entities identified</a:t>
            </a:r>
            <a:endParaRPr lang="en-US" sz="1400" dirty="0"/>
          </a:p>
        </p:txBody>
      </p:sp>
      <p:sp>
        <p:nvSpPr>
          <p:cNvPr id="7" name="Module card 2"/>
          <p:cNvSpPr/>
          <p:nvPr/>
        </p:nvSpPr>
        <p:spPr>
          <a:xfrm>
            <a:off x="3268980" y="128016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9758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975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Agent Architecture Design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97580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Class diagram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Sequence &amp; Activity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patterns applied</a:t>
            </a:r>
            <a:endParaRPr lang="en-US" sz="1400" dirty="0"/>
          </a:p>
        </p:txBody>
      </p:sp>
      <p:sp>
        <p:nvSpPr>
          <p:cNvPr id="11" name="Module card 3"/>
          <p:cNvSpPr/>
          <p:nvPr/>
        </p:nvSpPr>
        <p:spPr>
          <a:xfrm>
            <a:off x="6080760" y="128016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Implementation &amp; Testing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9260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 roles &amp; tool interfaces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Reliability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Trace &amp; log verification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 1: what the platform must do</a:t>
            </a:r>
            <a:endParaRPr lang="en-US" sz="3400" dirty="0"/>
          </a:p>
        </p:txBody>
      </p:sp>
      <p:sp>
        <p:nvSpPr>
          <p:cNvPr id="3" name="Requirement row 1"/>
          <p:cNvSpPr/>
          <p:nvPr/>
        </p:nvSpPr>
        <p:spPr>
          <a:xfrm>
            <a:off x="457200" y="1234440"/>
            <a:ext cx="53949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0759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Agent registration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Agents declare role, capabilities and tools to a central registry.</a:t>
            </a:r>
            <a:endParaRPr lang="en-US" sz="1400" dirty="0"/>
          </a:p>
        </p:txBody>
      </p:sp>
      <p:sp>
        <p:nvSpPr>
          <p:cNvPr id="7" name="Requirement row 2"/>
          <p:cNvSpPr/>
          <p:nvPr/>
        </p:nvSpPr>
        <p:spPr>
          <a:xfrm>
            <a:off x="457200" y="2057400"/>
            <a:ext cx="53949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305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Task delegation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Goals are split into tasks and routed to a capable agent.</a:t>
            </a:r>
            <a:endParaRPr lang="en-US" sz="1400" dirty="0"/>
          </a:p>
        </p:txBody>
      </p:sp>
      <p:sp>
        <p:nvSpPr>
          <p:cNvPr id="11" name="Requirement row 3"/>
          <p:cNvSpPr/>
          <p:nvPr/>
        </p:nvSpPr>
        <p:spPr>
          <a:xfrm>
            <a:off x="457200" y="2880360"/>
            <a:ext cx="53949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535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Tool calling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Agents invoke external tools through one uniform interface.</a:t>
            </a:r>
            <a:endParaRPr lang="en-US" sz="1400" dirty="0"/>
          </a:p>
        </p:txBody>
      </p:sp>
      <p:sp>
        <p:nvSpPr>
          <p:cNvPr id="15" name="Requirement row 4"/>
          <p:cNvSpPr/>
          <p:nvPr/>
        </p:nvSpPr>
        <p:spPr>
          <a:xfrm>
            <a:off x="457200" y="3703320"/>
            <a:ext cx="53949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/>
          <p:nvPr/>
        </p:nvSpPr>
        <p:spPr>
          <a:xfrm>
            <a:off x="59436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7647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 aggregation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Partial outputs are merged into a single validated response.</a:t>
            </a:r>
            <a:endParaRPr lang="en-US" sz="1400" dirty="0"/>
          </a:p>
        </p:txBody>
      </p:sp>
      <p:sp>
        <p:nvSpPr>
          <p:cNvPr id="19" name="NFR card"/>
          <p:cNvSpPr/>
          <p:nvPr/>
        </p:nvSpPr>
        <p:spPr>
          <a:xfrm>
            <a:off x="6126480" y="123444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NON-FUNCTIONAL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82880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Reliability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Retries, timeouts, fallbacks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Traceability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decision logged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Extensibility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New agents and tools plug 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Use Case diagram</a:t>
            </a:r>
            <a:endParaRPr lang="en-US" sz="3400" dirty="0"/>
          </a:p>
        </p:txBody>
      </p:sp>
      <p:sp>
        <p:nvSpPr>
          <p:cNvPr id="3" name="System boundary"/>
          <p:cNvSpPr/>
          <p:nvPr/>
        </p:nvSpPr>
        <p:spPr>
          <a:xfrm>
            <a:off x="2011680" y="1188720"/>
            <a:ext cx="51206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011680" y="1261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Orchestration Platform</a:t>
            </a:r>
            <a:endParaRPr lang="en-US" sz="1200" dirty="0"/>
          </a:p>
        </p:txBody>
      </p:sp>
      <p:sp>
        <p:nvSpPr>
          <p:cNvPr id="5" name="Association 1"/>
          <p:cNvSpPr/>
          <p:nvPr/>
        </p:nvSpPr>
        <p:spPr>
          <a:xfrm flipV="1">
            <a:off x="1188720" y="2011680"/>
            <a:ext cx="1051560" cy="914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6" name="Association 2"/>
          <p:cNvSpPr/>
          <p:nvPr/>
        </p:nvSpPr>
        <p:spPr>
          <a:xfrm>
            <a:off x="1188720" y="2103120"/>
            <a:ext cx="1051560" cy="19202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7" name="Association 3"/>
          <p:cNvSpPr/>
          <p:nvPr/>
        </p:nvSpPr>
        <p:spPr>
          <a:xfrm flipV="1">
            <a:off x="1188720" y="3017520"/>
            <a:ext cx="1051560" cy="5029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8" name="Association 4"/>
          <p:cNvSpPr/>
          <p:nvPr/>
        </p:nvSpPr>
        <p:spPr>
          <a:xfrm flipH="1" flipV="1">
            <a:off x="6903720" y="2011680"/>
            <a:ext cx="1005840" cy="914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9" name="Association 5"/>
          <p:cNvSpPr/>
          <p:nvPr/>
        </p:nvSpPr>
        <p:spPr>
          <a:xfrm flipH="1">
            <a:off x="6903720" y="2103120"/>
            <a:ext cx="1005840" cy="19202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0" name="Association 6"/>
          <p:cNvSpPr/>
          <p:nvPr/>
        </p:nvSpPr>
        <p:spPr>
          <a:xfrm flipH="1" flipV="1">
            <a:off x="6903720" y="3017520"/>
            <a:ext cx="1005840" cy="5029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1" name="Use case Register Agent"/>
          <p:cNvSpPr/>
          <p:nvPr/>
        </p:nvSpPr>
        <p:spPr>
          <a:xfrm>
            <a:off x="2240280" y="1645920"/>
            <a:ext cx="219456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Register Agent</a:t>
            </a:r>
            <a:endParaRPr lang="en-US" sz="1400" dirty="0"/>
          </a:p>
        </p:txBody>
      </p:sp>
      <p:sp>
        <p:nvSpPr>
          <p:cNvPr id="13" name="Use case Submit Task"/>
          <p:cNvSpPr/>
          <p:nvPr/>
        </p:nvSpPr>
        <p:spPr>
          <a:xfrm>
            <a:off x="2240280" y="2651760"/>
            <a:ext cx="219456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028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Submit Task</a:t>
            </a:r>
            <a:endParaRPr lang="en-US" sz="1400" dirty="0"/>
          </a:p>
        </p:txBody>
      </p:sp>
      <p:sp>
        <p:nvSpPr>
          <p:cNvPr id="15" name="Use case View Audit Logs"/>
          <p:cNvSpPr/>
          <p:nvPr/>
        </p:nvSpPr>
        <p:spPr>
          <a:xfrm>
            <a:off x="2240280" y="3657600"/>
            <a:ext cx="219456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4028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View Audit Logs</a:t>
            </a:r>
            <a:endParaRPr lang="en-US" sz="1400" dirty="0"/>
          </a:p>
        </p:txBody>
      </p:sp>
      <p:sp>
        <p:nvSpPr>
          <p:cNvPr id="17" name="Use case Delegate Task"/>
          <p:cNvSpPr/>
          <p:nvPr/>
        </p:nvSpPr>
        <p:spPr>
          <a:xfrm>
            <a:off x="4709160" y="1645920"/>
            <a:ext cx="219456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Delegate Task</a:t>
            </a:r>
            <a:endParaRPr lang="en-US" sz="1400" dirty="0"/>
          </a:p>
        </p:txBody>
      </p:sp>
      <p:sp>
        <p:nvSpPr>
          <p:cNvPr id="19" name="Use case Call Tool"/>
          <p:cNvSpPr/>
          <p:nvPr/>
        </p:nvSpPr>
        <p:spPr>
          <a:xfrm>
            <a:off x="4709160" y="2651760"/>
            <a:ext cx="219456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Call Tool</a:t>
            </a:r>
            <a:endParaRPr lang="en-US" sz="1400" dirty="0"/>
          </a:p>
        </p:txBody>
      </p:sp>
      <p:sp>
        <p:nvSpPr>
          <p:cNvPr id="21" name="Use case Aggregate Results"/>
          <p:cNvSpPr/>
          <p:nvPr/>
        </p:nvSpPr>
        <p:spPr>
          <a:xfrm>
            <a:off x="4709160" y="3657600"/>
            <a:ext cx="2194560" cy="73152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Aggregate Results</a:t>
            </a:r>
            <a:endParaRPr lang="en-US" sz="1400" dirty="0"/>
          </a:p>
        </p:txBody>
      </p:sp>
      <p:sp>
        <p:nvSpPr>
          <p:cNvPr id="23" name="Actor head Admin"/>
          <p:cNvSpPr/>
          <p:nvPr/>
        </p:nvSpPr>
        <p:spPr>
          <a:xfrm>
            <a:off x="777240" y="160020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Actor body Admin"/>
          <p:cNvSpPr/>
          <p:nvPr/>
        </p:nvSpPr>
        <p:spPr>
          <a:xfrm>
            <a:off x="640080" y="1901952"/>
            <a:ext cx="54864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2860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Admin</a:t>
            </a:r>
            <a:endParaRPr lang="en-US" sz="1200" dirty="0"/>
          </a:p>
        </p:txBody>
      </p:sp>
      <p:sp>
        <p:nvSpPr>
          <p:cNvPr id="26" name="Actor head User"/>
          <p:cNvSpPr/>
          <p:nvPr/>
        </p:nvSpPr>
        <p:spPr>
          <a:xfrm>
            <a:off x="777240" y="301752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Actor body User"/>
          <p:cNvSpPr/>
          <p:nvPr/>
        </p:nvSpPr>
        <p:spPr>
          <a:xfrm>
            <a:off x="640080" y="3319272"/>
            <a:ext cx="54864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28600" y="3785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User</a:t>
            </a:r>
            <a:endParaRPr lang="en-US" sz="1200" dirty="0"/>
          </a:p>
        </p:txBody>
      </p:sp>
      <p:sp>
        <p:nvSpPr>
          <p:cNvPr id="29" name="Actor head LLM Agent"/>
          <p:cNvSpPr/>
          <p:nvPr/>
        </p:nvSpPr>
        <p:spPr>
          <a:xfrm>
            <a:off x="8046720" y="160020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Actor body LLM Agent"/>
          <p:cNvSpPr/>
          <p:nvPr/>
        </p:nvSpPr>
        <p:spPr>
          <a:xfrm>
            <a:off x="7909560" y="1901952"/>
            <a:ext cx="54864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LLM Agent</a:t>
            </a:r>
            <a:endParaRPr lang="en-US" sz="1200" dirty="0"/>
          </a:p>
        </p:txBody>
      </p:sp>
      <p:sp>
        <p:nvSpPr>
          <p:cNvPr id="32" name="Actor head Ext. Tool"/>
          <p:cNvSpPr/>
          <p:nvPr/>
        </p:nvSpPr>
        <p:spPr>
          <a:xfrm>
            <a:off x="8046720" y="301752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3" name="Actor body Ext. Tool"/>
          <p:cNvSpPr/>
          <p:nvPr/>
        </p:nvSpPr>
        <p:spPr>
          <a:xfrm>
            <a:off x="7909560" y="3319272"/>
            <a:ext cx="54864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98080" y="3785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Ext. Tool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Class diagram: core entities</a:t>
            </a:r>
            <a:endParaRPr lang="en-US" sz="3400" dirty="0"/>
          </a:p>
        </p:txBody>
      </p:sp>
      <p:sp>
        <p:nvSpPr>
          <p:cNvPr id="3" name="Class Workflow"/>
          <p:cNvSpPr/>
          <p:nvPr/>
        </p:nvSpPr>
        <p:spPr>
          <a:xfrm>
            <a:off x="457200" y="1234440"/>
            <a:ext cx="2286000" cy="150876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Class header Workflow"/>
          <p:cNvSpPr/>
          <p:nvPr/>
        </p:nvSpPr>
        <p:spPr>
          <a:xfrm>
            <a:off x="457200" y="1234440"/>
            <a:ext cx="2286000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Workflow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id, steps[]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state</a:t>
            </a:r>
            <a:endParaRPr lang="en-US" sz="1100" dirty="0"/>
          </a:p>
        </p:txBody>
      </p:sp>
      <p:sp>
        <p:nvSpPr>
          <p:cNvPr id="7" name="Divider Workflow"/>
          <p:cNvSpPr/>
          <p:nvPr/>
        </p:nvSpPr>
        <p:spPr>
          <a:xfrm>
            <a:off x="457200" y="2286000"/>
            <a:ext cx="22860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31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run()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aggregate()</a:t>
            </a:r>
            <a:endParaRPr lang="en-US" sz="1100" dirty="0"/>
          </a:p>
        </p:txBody>
      </p:sp>
      <p:sp>
        <p:nvSpPr>
          <p:cNvPr id="9" name="Class Task"/>
          <p:cNvSpPr/>
          <p:nvPr/>
        </p:nvSpPr>
        <p:spPr>
          <a:xfrm>
            <a:off x="3429000" y="1234440"/>
            <a:ext cx="2286000" cy="150876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Class header Task"/>
          <p:cNvSpPr/>
          <p:nvPr/>
        </p:nvSpPr>
        <p:spPr>
          <a:xfrm>
            <a:off x="3429000" y="1234440"/>
            <a:ext cx="2286000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Task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id, goal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status, priority</a:t>
            </a:r>
            <a:endParaRPr lang="en-US" sz="1100" dirty="0"/>
          </a:p>
        </p:txBody>
      </p:sp>
      <p:sp>
        <p:nvSpPr>
          <p:cNvPr id="13" name="Divider Task"/>
          <p:cNvSpPr/>
          <p:nvPr/>
        </p:nvSpPr>
        <p:spPr>
          <a:xfrm>
            <a:off x="3429000" y="2286000"/>
            <a:ext cx="22860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8728" y="2331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delegate()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retry()</a:t>
            </a:r>
            <a:endParaRPr lang="en-US" sz="1100" dirty="0"/>
          </a:p>
        </p:txBody>
      </p:sp>
      <p:sp>
        <p:nvSpPr>
          <p:cNvPr id="15" name="Class Agent"/>
          <p:cNvSpPr/>
          <p:nvPr/>
        </p:nvSpPr>
        <p:spPr>
          <a:xfrm>
            <a:off x="6400800" y="1234440"/>
            <a:ext cx="2286000" cy="150876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Class header Agent"/>
          <p:cNvSpPr/>
          <p:nvPr/>
        </p:nvSpPr>
        <p:spPr>
          <a:xfrm>
            <a:off x="6400800" y="1234440"/>
            <a:ext cx="2286000" cy="347472"/>
          </a:xfrm>
          <a:prstGeom prst="roundRect">
            <a:avLst>
              <a:gd name="adj" fmla="val 13158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id, role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capabilities[], status</a:t>
            </a:r>
            <a:endParaRPr lang="en-US" sz="1100" dirty="0"/>
          </a:p>
        </p:txBody>
      </p:sp>
      <p:sp>
        <p:nvSpPr>
          <p:cNvPr id="19" name="Divider Agent"/>
          <p:cNvSpPr/>
          <p:nvPr/>
        </p:nvSpPr>
        <p:spPr>
          <a:xfrm>
            <a:off x="6400800" y="2286000"/>
            <a:ext cx="22860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0528" y="2331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register()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execute(task)</a:t>
            </a:r>
            <a:endParaRPr lang="en-US" sz="1100" dirty="0"/>
          </a:p>
        </p:txBody>
      </p:sp>
      <p:sp>
        <p:nvSpPr>
          <p:cNvPr id="21" name="Class LogEntry"/>
          <p:cNvSpPr/>
          <p:nvPr/>
        </p:nvSpPr>
        <p:spPr>
          <a:xfrm>
            <a:off x="3429000" y="3200400"/>
            <a:ext cx="2286000" cy="150876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Class header LogEntry"/>
          <p:cNvSpPr/>
          <p:nvPr/>
        </p:nvSpPr>
        <p:spPr>
          <a:xfrm>
            <a:off x="3429000" y="3200400"/>
            <a:ext cx="2286000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2900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LogEntry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538728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trace_id, actor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decision, timestamp</a:t>
            </a:r>
            <a:endParaRPr lang="en-US" sz="1100" dirty="0"/>
          </a:p>
        </p:txBody>
      </p:sp>
      <p:sp>
        <p:nvSpPr>
          <p:cNvPr id="25" name="Divider LogEntry"/>
          <p:cNvSpPr/>
          <p:nvPr/>
        </p:nvSpPr>
        <p:spPr>
          <a:xfrm>
            <a:off x="3429000" y="4251960"/>
            <a:ext cx="22860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38728" y="4297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record()</a:t>
            </a:r>
            <a:endParaRPr lang="en-US" sz="1100" dirty="0"/>
          </a:p>
        </p:txBody>
      </p:sp>
      <p:sp>
        <p:nvSpPr>
          <p:cNvPr id="27" name="Class Tool"/>
          <p:cNvSpPr/>
          <p:nvPr/>
        </p:nvSpPr>
        <p:spPr>
          <a:xfrm>
            <a:off x="6400800" y="3200400"/>
            <a:ext cx="2286000" cy="150876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8" name="Class header Tool"/>
          <p:cNvSpPr/>
          <p:nvPr/>
        </p:nvSpPr>
        <p:spPr>
          <a:xfrm>
            <a:off x="6400800" y="3200400"/>
            <a:ext cx="2286000" cy="347472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Tool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510528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name, schema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timeout</a:t>
            </a:r>
            <a:endParaRPr lang="en-US" sz="1100" dirty="0"/>
          </a:p>
        </p:txBody>
      </p:sp>
      <p:sp>
        <p:nvSpPr>
          <p:cNvPr id="31" name="Divider Tool"/>
          <p:cNvSpPr/>
          <p:nvPr/>
        </p:nvSpPr>
        <p:spPr>
          <a:xfrm>
            <a:off x="6400800" y="4251960"/>
            <a:ext cx="22860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10528" y="4297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invoke(args)</a:t>
            </a:r>
            <a:endParaRPr lang="en-US" sz="1100" dirty="0"/>
          </a:p>
        </p:txBody>
      </p:sp>
      <p:sp>
        <p:nvSpPr>
          <p:cNvPr id="33" name="Workflow to Task"/>
          <p:cNvSpPr/>
          <p:nvPr/>
        </p:nvSpPr>
        <p:spPr>
          <a:xfrm>
            <a:off x="2743200" y="196596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743200" y="16916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1..*</a:t>
            </a:r>
            <a:endParaRPr lang="en-US" sz="1100" dirty="0"/>
          </a:p>
        </p:txBody>
      </p:sp>
      <p:sp>
        <p:nvSpPr>
          <p:cNvPr id="35" name="Task to Agent"/>
          <p:cNvSpPr/>
          <p:nvPr/>
        </p:nvSpPr>
        <p:spPr>
          <a:xfrm>
            <a:off x="5715000" y="1965960"/>
            <a:ext cx="685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715000" y="16916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assigned</a:t>
            </a:r>
            <a:endParaRPr lang="en-US" sz="1100" dirty="0"/>
          </a:p>
        </p:txBody>
      </p:sp>
      <p:sp>
        <p:nvSpPr>
          <p:cNvPr id="37" name="Task to Log"/>
          <p:cNvSpPr/>
          <p:nvPr/>
        </p:nvSpPr>
        <p:spPr>
          <a:xfrm>
            <a:off x="4572000" y="274320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66344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emits</a:t>
            </a:r>
            <a:endParaRPr lang="en-US" sz="1100" dirty="0"/>
          </a:p>
        </p:txBody>
      </p:sp>
      <p:sp>
        <p:nvSpPr>
          <p:cNvPr id="39" name="Agent to Tool"/>
          <p:cNvSpPr/>
          <p:nvPr/>
        </p:nvSpPr>
        <p:spPr>
          <a:xfrm>
            <a:off x="7543800" y="2743200"/>
            <a:ext cx="0" cy="4572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763524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uses</a:t>
            </a:r>
            <a:endParaRPr lang="en-US" sz="1100" dirty="0"/>
          </a:p>
        </p:txBody>
      </p:sp>
      <p:sp>
        <p:nvSpPr>
          <p:cNvPr id="41" name="Redis note"/>
          <p:cNvSpPr/>
          <p:nvPr/>
        </p:nvSpPr>
        <p:spPr>
          <a:xfrm>
            <a:off x="457200" y="3200400"/>
            <a:ext cx="228600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1792" y="333756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REDIS-BACKED STATE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Agent registry, task queue and workflow state persist across restarts.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Layered architecture</a:t>
            </a:r>
            <a:endParaRPr lang="en-US" sz="3400" dirty="0"/>
          </a:p>
        </p:txBody>
      </p:sp>
      <p:sp>
        <p:nvSpPr>
          <p:cNvPr id="3" name="Client layer"/>
          <p:cNvSpPr/>
          <p:nvPr/>
        </p:nvSpPr>
        <p:spPr>
          <a:xfrm>
            <a:off x="457200" y="1188720"/>
            <a:ext cx="58521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Client / REST API</a:t>
            </a:r>
            <a:endParaRPr lang="en-US" sz="1600" dirty="0"/>
          </a:p>
        </p:txBody>
      </p:sp>
      <p:sp>
        <p:nvSpPr>
          <p:cNvPr id="5" name="Client to Orchestrator"/>
          <p:cNvSpPr/>
          <p:nvPr/>
        </p:nvSpPr>
        <p:spPr>
          <a:xfrm>
            <a:off x="3383280" y="173736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Orchestrator layer"/>
          <p:cNvSpPr/>
          <p:nvPr/>
        </p:nvSpPr>
        <p:spPr>
          <a:xfrm>
            <a:off x="457200" y="2011680"/>
            <a:ext cx="585216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75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Orchestrator (Mediator)</a:t>
            </a:r>
            <a:endParaRPr lang="en-US" sz="1400" dirty="0"/>
          </a:p>
        </p:txBody>
      </p:sp>
      <p:sp>
        <p:nvSpPr>
          <p:cNvPr id="8" name="Orch part Planner"/>
          <p:cNvSpPr/>
          <p:nvPr/>
        </p:nvSpPr>
        <p:spPr>
          <a:xfrm>
            <a:off x="640080" y="2423160"/>
            <a:ext cx="17373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Planner</a:t>
            </a:r>
            <a:endParaRPr lang="en-US" sz="1400" dirty="0"/>
          </a:p>
        </p:txBody>
      </p:sp>
      <p:sp>
        <p:nvSpPr>
          <p:cNvPr id="10" name="Orch part Router (Chain)"/>
          <p:cNvSpPr/>
          <p:nvPr/>
        </p:nvSpPr>
        <p:spPr>
          <a:xfrm>
            <a:off x="2514600" y="2423160"/>
            <a:ext cx="17373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1460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Router (Chain)</a:t>
            </a:r>
            <a:endParaRPr lang="en-US" sz="1400" dirty="0"/>
          </a:p>
        </p:txBody>
      </p:sp>
      <p:sp>
        <p:nvSpPr>
          <p:cNvPr id="12" name="Orch part Aggregator"/>
          <p:cNvSpPr/>
          <p:nvPr/>
        </p:nvSpPr>
        <p:spPr>
          <a:xfrm>
            <a:off x="4389120" y="2423160"/>
            <a:ext cx="173736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Aggregator</a:t>
            </a:r>
            <a:endParaRPr lang="en-US" sz="1400" dirty="0"/>
          </a:p>
        </p:txBody>
      </p:sp>
      <p:sp>
        <p:nvSpPr>
          <p:cNvPr id="14" name="Orchestrator to Agents"/>
          <p:cNvSpPr/>
          <p:nvPr/>
        </p:nvSpPr>
        <p:spPr>
          <a:xfrm>
            <a:off x="3383280" y="297180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Agent pool"/>
          <p:cNvSpPr/>
          <p:nvPr/>
        </p:nvSpPr>
        <p:spPr>
          <a:xfrm>
            <a:off x="457200" y="3246120"/>
            <a:ext cx="58521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6" name="Agent Planner"/>
          <p:cNvSpPr/>
          <p:nvPr/>
        </p:nvSpPr>
        <p:spPr>
          <a:xfrm>
            <a:off x="566928" y="3364992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3649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Planner</a:t>
            </a:r>
            <a:endParaRPr lang="en-US" sz="1400" dirty="0"/>
          </a:p>
        </p:txBody>
      </p:sp>
      <p:sp>
        <p:nvSpPr>
          <p:cNvPr id="18" name="Agent Researcher"/>
          <p:cNvSpPr/>
          <p:nvPr/>
        </p:nvSpPr>
        <p:spPr>
          <a:xfrm>
            <a:off x="2002536" y="3364992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02536" y="33649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Researcher</a:t>
            </a:r>
            <a:endParaRPr lang="en-US" sz="1400" dirty="0"/>
          </a:p>
        </p:txBody>
      </p:sp>
      <p:sp>
        <p:nvSpPr>
          <p:cNvPr id="20" name="Agent Executor"/>
          <p:cNvSpPr/>
          <p:nvPr/>
        </p:nvSpPr>
        <p:spPr>
          <a:xfrm>
            <a:off x="3438144" y="3364992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38144" y="33649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Executor</a:t>
            </a:r>
            <a:endParaRPr lang="en-US" sz="1400" dirty="0"/>
          </a:p>
        </p:txBody>
      </p:sp>
      <p:sp>
        <p:nvSpPr>
          <p:cNvPr id="22" name="Agent Validator"/>
          <p:cNvSpPr/>
          <p:nvPr/>
        </p:nvSpPr>
        <p:spPr>
          <a:xfrm>
            <a:off x="4873752" y="3364992"/>
            <a:ext cx="132588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73752" y="33649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Validator</a:t>
            </a:r>
            <a:endParaRPr lang="en-US" sz="1400" dirty="0"/>
          </a:p>
        </p:txBody>
      </p:sp>
      <p:sp>
        <p:nvSpPr>
          <p:cNvPr id="24" name="Agents to Tools"/>
          <p:cNvSpPr/>
          <p:nvPr/>
        </p:nvSpPr>
        <p:spPr>
          <a:xfrm>
            <a:off x="3383280" y="393192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ool layer"/>
          <p:cNvSpPr/>
          <p:nvPr/>
        </p:nvSpPr>
        <p:spPr>
          <a:xfrm>
            <a:off x="457200" y="4114800"/>
            <a:ext cx="585216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Tool interface:  Search  ·  Database  ·  Code exec  ·  APIs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SHARED SERVICES</a:t>
            </a:r>
            <a:endParaRPr lang="en-US" sz="1200" dirty="0"/>
          </a:p>
        </p:txBody>
      </p:sp>
      <p:sp>
        <p:nvSpPr>
          <p:cNvPr id="28" name="Service Redis"/>
          <p:cNvSpPr/>
          <p:nvPr/>
        </p:nvSpPr>
        <p:spPr>
          <a:xfrm>
            <a:off x="6629400" y="1554480"/>
            <a:ext cx="2057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168249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Redis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Task queue, state</a:t>
            </a:r>
            <a:endParaRPr lang="en-US" sz="1400" dirty="0"/>
          </a:p>
        </p:txBody>
      </p:sp>
      <p:sp>
        <p:nvSpPr>
          <p:cNvPr id="30" name="Service LLM API"/>
          <p:cNvSpPr/>
          <p:nvPr/>
        </p:nvSpPr>
        <p:spPr>
          <a:xfrm>
            <a:off x="6629400" y="2578608"/>
            <a:ext cx="2057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2706624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 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Reasoning, tool calls</a:t>
            </a:r>
            <a:endParaRPr lang="en-US" sz="1400" dirty="0"/>
          </a:p>
        </p:txBody>
      </p:sp>
      <p:sp>
        <p:nvSpPr>
          <p:cNvPr id="32" name="Service Log store"/>
          <p:cNvSpPr/>
          <p:nvPr/>
        </p:nvSpPr>
        <p:spPr>
          <a:xfrm>
            <a:off x="6629400" y="3602736"/>
            <a:ext cx="2057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0" y="37307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 store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Decision traces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Design patterns applied</a:t>
            </a:r>
            <a:endParaRPr lang="en-US" sz="3400" dirty="0"/>
          </a:p>
        </p:txBody>
      </p:sp>
      <p:sp>
        <p:nvSpPr>
          <p:cNvPr id="3" name="Pattern card Chain of Responsibility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44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Chain of Responsibility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55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Applied to: Task router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agent checks can_handle(); if not, it passes the task to the next agent in the chain.</a:t>
            </a:r>
            <a:endParaRPr lang="en-US" sz="1400" dirty="0"/>
          </a:p>
        </p:txBody>
      </p:sp>
      <p:sp>
        <p:nvSpPr>
          <p:cNvPr id="9" name="Pattern card Mediator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4846320" y="139903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344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Mediator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655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Applied to: Orchestrator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Agents never call each other. All coordination flows through one central mediator.</a:t>
            </a:r>
            <a:endParaRPr lang="en-US" sz="1400" dirty="0"/>
          </a:p>
        </p:txBody>
      </p:sp>
      <p:sp>
        <p:nvSpPr>
          <p:cNvPr id="15" name="Pattern card Command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Badge 3"/>
          <p:cNvSpPr/>
          <p:nvPr/>
        </p:nvSpPr>
        <p:spPr>
          <a:xfrm>
            <a:off x="640080" y="309067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Command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346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Applied to: Tool calls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758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tool invocation is an object with execute() and metadata, so it can be logged, retried and replayed.</a:t>
            </a:r>
            <a:endParaRPr lang="en-US" sz="1400" dirty="0"/>
          </a:p>
        </p:txBody>
      </p:sp>
      <p:sp>
        <p:nvSpPr>
          <p:cNvPr id="21" name="Pattern card Polymorphism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2" name="Badge 4"/>
          <p:cNvSpPr/>
          <p:nvPr/>
        </p:nvSpPr>
        <p:spPr>
          <a:xfrm>
            <a:off x="4846320" y="309067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035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Polymorphism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346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Applied to: Agent &amp; Tool interfaces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6758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Planner, Researcher and Executor share one Agent interface; new roles plug in without touching the orchestrator.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Sequence diagram: one task</a:t>
            </a:r>
            <a:endParaRPr lang="en-US" sz="3400" dirty="0"/>
          </a:p>
        </p:txBody>
      </p:sp>
      <p:sp>
        <p:nvSpPr>
          <p:cNvPr id="3" name="Participant User"/>
          <p:cNvSpPr/>
          <p:nvPr/>
        </p:nvSpPr>
        <p:spPr>
          <a:xfrm>
            <a:off x="457200" y="114300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User</a:t>
            </a:r>
            <a:endParaRPr lang="en-US" sz="1400" dirty="0"/>
          </a:p>
        </p:txBody>
      </p:sp>
      <p:sp>
        <p:nvSpPr>
          <p:cNvPr id="5" name="Lifeline User"/>
          <p:cNvSpPr/>
          <p:nvPr/>
        </p:nvSpPr>
        <p:spPr>
          <a:xfrm>
            <a:off x="1143000" y="1508760"/>
            <a:ext cx="0" cy="31089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6" name="Participant Orchestrator"/>
          <p:cNvSpPr/>
          <p:nvPr/>
        </p:nvSpPr>
        <p:spPr>
          <a:xfrm>
            <a:off x="2148840" y="114300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Orchestrator</a:t>
            </a:r>
            <a:endParaRPr lang="en-US" sz="1400" dirty="0"/>
          </a:p>
        </p:txBody>
      </p:sp>
      <p:sp>
        <p:nvSpPr>
          <p:cNvPr id="8" name="Lifeline Orchestrator"/>
          <p:cNvSpPr/>
          <p:nvPr/>
        </p:nvSpPr>
        <p:spPr>
          <a:xfrm>
            <a:off x="2834640" y="1508760"/>
            <a:ext cx="0" cy="31089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9" name="Participant Agent"/>
          <p:cNvSpPr/>
          <p:nvPr/>
        </p:nvSpPr>
        <p:spPr>
          <a:xfrm>
            <a:off x="3840480" y="114300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</a:t>
            </a:r>
            <a:endParaRPr lang="en-US" sz="1400" dirty="0"/>
          </a:p>
        </p:txBody>
      </p:sp>
      <p:sp>
        <p:nvSpPr>
          <p:cNvPr id="11" name="Lifeline Agent"/>
          <p:cNvSpPr/>
          <p:nvPr/>
        </p:nvSpPr>
        <p:spPr>
          <a:xfrm>
            <a:off x="4526280" y="1508760"/>
            <a:ext cx="0" cy="31089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2" name="Participant Tool"/>
          <p:cNvSpPr/>
          <p:nvPr/>
        </p:nvSpPr>
        <p:spPr>
          <a:xfrm>
            <a:off x="5532120" y="114300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3212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Tool</a:t>
            </a:r>
            <a:endParaRPr lang="en-US" sz="1400" dirty="0"/>
          </a:p>
        </p:txBody>
      </p:sp>
      <p:sp>
        <p:nvSpPr>
          <p:cNvPr id="14" name="Lifeline Tool"/>
          <p:cNvSpPr/>
          <p:nvPr/>
        </p:nvSpPr>
        <p:spPr>
          <a:xfrm>
            <a:off x="6217920" y="1508760"/>
            <a:ext cx="0" cy="31089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5" name="Participant Log"/>
          <p:cNvSpPr/>
          <p:nvPr/>
        </p:nvSpPr>
        <p:spPr>
          <a:xfrm>
            <a:off x="7223760" y="1143000"/>
            <a:ext cx="137160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Log</a:t>
            </a:r>
            <a:endParaRPr lang="en-US" sz="1400" dirty="0"/>
          </a:p>
        </p:txBody>
      </p:sp>
      <p:sp>
        <p:nvSpPr>
          <p:cNvPr id="17" name="Lifeline Log"/>
          <p:cNvSpPr/>
          <p:nvPr/>
        </p:nvSpPr>
        <p:spPr>
          <a:xfrm>
            <a:off x="7909560" y="1508760"/>
            <a:ext cx="0" cy="31089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8" name="Message 1 submitTask(goal)"/>
          <p:cNvSpPr/>
          <p:nvPr/>
        </p:nvSpPr>
        <p:spPr>
          <a:xfrm>
            <a:off x="1143000" y="1874520"/>
            <a:ext cx="1691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143000" y="16002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submitTask(goal)</a:t>
            </a:r>
            <a:endParaRPr lang="en-US" sz="1100" dirty="0"/>
          </a:p>
        </p:txBody>
      </p:sp>
      <p:sp>
        <p:nvSpPr>
          <p:cNvPr id="20" name="Message 2 execute(Command)"/>
          <p:cNvSpPr/>
          <p:nvPr/>
        </p:nvSpPr>
        <p:spPr>
          <a:xfrm>
            <a:off x="2834640" y="2331720"/>
            <a:ext cx="1691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834640" y="20574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2 execute(Command)</a:t>
            </a:r>
            <a:endParaRPr lang="en-US" sz="1100" dirty="0"/>
          </a:p>
        </p:txBody>
      </p:sp>
      <p:sp>
        <p:nvSpPr>
          <p:cNvPr id="22" name="Message 3 invoke(args)"/>
          <p:cNvSpPr/>
          <p:nvPr/>
        </p:nvSpPr>
        <p:spPr>
          <a:xfrm>
            <a:off x="4526280" y="2788920"/>
            <a:ext cx="16916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26280" y="25146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 invoke(args)</a:t>
            </a:r>
            <a:endParaRPr lang="en-US" sz="1100" dirty="0"/>
          </a:p>
        </p:txBody>
      </p:sp>
      <p:sp>
        <p:nvSpPr>
          <p:cNvPr id="24" name="Message 4 result"/>
          <p:cNvSpPr/>
          <p:nvPr/>
        </p:nvSpPr>
        <p:spPr>
          <a:xfrm flipH="1">
            <a:off x="4526280" y="3200400"/>
            <a:ext cx="1691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526280" y="29260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4 result</a:t>
            </a:r>
            <a:endParaRPr lang="en-US" sz="1100" dirty="0"/>
          </a:p>
        </p:txBody>
      </p:sp>
      <p:sp>
        <p:nvSpPr>
          <p:cNvPr id="26" name="Message 5 outcome"/>
          <p:cNvSpPr/>
          <p:nvPr/>
        </p:nvSpPr>
        <p:spPr>
          <a:xfrm flipH="1">
            <a:off x="2834640" y="3611880"/>
            <a:ext cx="1691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834640" y="33375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5 outcome</a:t>
            </a:r>
            <a:endParaRPr lang="en-US" sz="1100" dirty="0"/>
          </a:p>
        </p:txBody>
      </p:sp>
      <p:sp>
        <p:nvSpPr>
          <p:cNvPr id="28" name="Message 6 record(trace)"/>
          <p:cNvSpPr/>
          <p:nvPr/>
        </p:nvSpPr>
        <p:spPr>
          <a:xfrm>
            <a:off x="2834640" y="4023360"/>
            <a:ext cx="50749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834640" y="374904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6 record(trace)</a:t>
            </a:r>
            <a:endParaRPr lang="en-US" sz="1100" dirty="0"/>
          </a:p>
        </p:txBody>
      </p:sp>
      <p:sp>
        <p:nvSpPr>
          <p:cNvPr id="30" name="Message 7 aggregated result"/>
          <p:cNvSpPr/>
          <p:nvPr/>
        </p:nvSpPr>
        <p:spPr>
          <a:xfrm flipH="1">
            <a:off x="1143000" y="4434840"/>
            <a:ext cx="169164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143000" y="41605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7 aggregated result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 diagram: task lifecycle</a:t>
            </a:r>
            <a:endParaRPr lang="en-US" sz="3400" dirty="0"/>
          </a:p>
        </p:txBody>
      </p:sp>
      <p:sp>
        <p:nvSpPr>
          <p:cNvPr id="3" name="Start node"/>
          <p:cNvSpPr/>
          <p:nvPr/>
        </p:nvSpPr>
        <p:spPr>
          <a:xfrm>
            <a:off x="457200" y="150876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Start arrow"/>
          <p:cNvSpPr/>
          <p:nvPr/>
        </p:nvSpPr>
        <p:spPr>
          <a:xfrm>
            <a:off x="731520" y="1645920"/>
            <a:ext cx="1828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Step Receive &amp; validate task"/>
          <p:cNvSpPr/>
          <p:nvPr/>
        </p:nvSpPr>
        <p:spPr>
          <a:xfrm>
            <a:off x="914400" y="128016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128016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Receive &amp; validate task</a:t>
            </a:r>
            <a:endParaRPr lang="en-US" sz="1400" dirty="0"/>
          </a:p>
        </p:txBody>
      </p:sp>
      <p:sp>
        <p:nvSpPr>
          <p:cNvPr id="7" name="Flow 1"/>
          <p:cNvSpPr/>
          <p:nvPr/>
        </p:nvSpPr>
        <p:spPr>
          <a:xfrm>
            <a:off x="2514600" y="164592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tep Decompose into subtasks"/>
          <p:cNvSpPr/>
          <p:nvPr/>
        </p:nvSpPr>
        <p:spPr>
          <a:xfrm>
            <a:off x="2880360" y="128016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53512" y="128016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Decompose into subtasks</a:t>
            </a:r>
            <a:endParaRPr lang="en-US" sz="1400" dirty="0"/>
          </a:p>
        </p:txBody>
      </p:sp>
      <p:sp>
        <p:nvSpPr>
          <p:cNvPr id="10" name="Flow 2"/>
          <p:cNvSpPr/>
          <p:nvPr/>
        </p:nvSpPr>
        <p:spPr>
          <a:xfrm>
            <a:off x="4480560" y="164592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tep Route through handler chain"/>
          <p:cNvSpPr/>
          <p:nvPr/>
        </p:nvSpPr>
        <p:spPr>
          <a:xfrm>
            <a:off x="4846320" y="128016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9472" y="128016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 through handler chain</a:t>
            </a:r>
            <a:endParaRPr lang="en-US" sz="1400" dirty="0"/>
          </a:p>
        </p:txBody>
      </p:sp>
      <p:sp>
        <p:nvSpPr>
          <p:cNvPr id="13" name="Flow 3"/>
          <p:cNvSpPr/>
          <p:nvPr/>
        </p:nvSpPr>
        <p:spPr>
          <a:xfrm>
            <a:off x="6446520" y="164592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tep Execute tool call (Command)"/>
          <p:cNvSpPr/>
          <p:nvPr/>
        </p:nvSpPr>
        <p:spPr>
          <a:xfrm>
            <a:off x="6812280" y="128016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128016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Execute tool call (Command)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Unable to handle? Pass to next handler</a:t>
            </a:r>
            <a:endParaRPr lang="en-US" sz="1200" dirty="0"/>
          </a:p>
        </p:txBody>
      </p:sp>
      <p:sp>
        <p:nvSpPr>
          <p:cNvPr id="17" name="Execute to decision"/>
          <p:cNvSpPr/>
          <p:nvPr/>
        </p:nvSpPr>
        <p:spPr>
          <a:xfrm>
            <a:off x="7612380" y="2011680"/>
            <a:ext cx="0" cy="8229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Decision valid result"/>
          <p:cNvSpPr/>
          <p:nvPr/>
        </p:nvSpPr>
        <p:spPr>
          <a:xfrm>
            <a:off x="6812280" y="2834640"/>
            <a:ext cx="1600200" cy="1097280"/>
          </a:xfrm>
          <a:prstGeom prst="diamond">
            <a:avLst/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8346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 valid?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4"/>
                </a:solidFill>
              </a:rPr>
              <a:t>No: retry (max 3), then fallback agent</a:t>
            </a:r>
            <a:endParaRPr lang="en-US" sz="1200" dirty="0"/>
          </a:p>
        </p:txBody>
      </p:sp>
      <p:sp>
        <p:nvSpPr>
          <p:cNvPr id="21" name="Yes arrow"/>
          <p:cNvSpPr/>
          <p:nvPr/>
        </p:nvSpPr>
        <p:spPr>
          <a:xfrm flipH="1">
            <a:off x="6446520" y="338328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446520" y="3108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Yes</a:t>
            </a:r>
            <a:endParaRPr lang="en-US" sz="1200" dirty="0"/>
          </a:p>
        </p:txBody>
      </p:sp>
      <p:sp>
        <p:nvSpPr>
          <p:cNvPr id="23" name="Step aggregate"/>
          <p:cNvSpPr/>
          <p:nvPr/>
        </p:nvSpPr>
        <p:spPr>
          <a:xfrm>
            <a:off x="4846320" y="301752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19472" y="301752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Aggregate results</a:t>
            </a:r>
            <a:endParaRPr lang="en-US" sz="1400" dirty="0"/>
          </a:p>
        </p:txBody>
      </p:sp>
      <p:sp>
        <p:nvSpPr>
          <p:cNvPr id="25" name="Aggregate to log"/>
          <p:cNvSpPr/>
          <p:nvPr/>
        </p:nvSpPr>
        <p:spPr>
          <a:xfrm flipH="1">
            <a:off x="4480560" y="338328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Step log"/>
          <p:cNvSpPr/>
          <p:nvPr/>
        </p:nvSpPr>
        <p:spPr>
          <a:xfrm>
            <a:off x="2880360" y="301752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953512" y="301752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Log trace &amp; respond</a:t>
            </a:r>
            <a:endParaRPr lang="en-US" sz="1400" dirty="0"/>
          </a:p>
        </p:txBody>
      </p:sp>
      <p:sp>
        <p:nvSpPr>
          <p:cNvPr id="28" name="Log to end"/>
          <p:cNvSpPr/>
          <p:nvPr/>
        </p:nvSpPr>
        <p:spPr>
          <a:xfrm flipH="1">
            <a:off x="1600200" y="3383280"/>
            <a:ext cx="12801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End node"/>
          <p:cNvSpPr/>
          <p:nvPr/>
        </p:nvSpPr>
        <p:spPr>
          <a:xfrm>
            <a:off x="1143000" y="3154680"/>
            <a:ext cx="457200" cy="45720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30" name="End node core"/>
          <p:cNvSpPr/>
          <p:nvPr/>
        </p:nvSpPr>
        <p:spPr>
          <a:xfrm>
            <a:off x="1234440" y="3246120"/>
            <a:ext cx="274320" cy="2743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Agent roles &amp; tool interfaces</a:t>
            </a:r>
            <a:endParaRPr lang="en-US" sz="3400" dirty="0"/>
          </a:p>
        </p:txBody>
      </p:sp>
      <p:sp>
        <p:nvSpPr>
          <p:cNvPr id="3" name="Code card"/>
          <p:cNvSpPr/>
          <p:nvPr/>
        </p:nvSpPr>
        <p:spPr>
          <a:xfrm>
            <a:off x="457200" y="1234440"/>
            <a:ext cx="5120640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agents.py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Tool(ABC):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invoke(self, args) -&gt; Result: 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Agent(ABC):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role, tools):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can_handle(self, task) -&gt; bool: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handle(self, task):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self.can_handle(task):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self.execute(task)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self.next.handle(task)</a:t>
            </a:r>
            <a:endParaRPr lang="en-US" sz="1100" dirty="0"/>
          </a:p>
        </p:txBody>
      </p:sp>
      <p:sp>
        <p:nvSpPr>
          <p:cNvPr id="6" name="Role card Planner"/>
          <p:cNvSpPr/>
          <p:nvPr/>
        </p:nvSpPr>
        <p:spPr>
          <a:xfrm>
            <a:off x="5806440" y="1234440"/>
            <a:ext cx="2880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7" name="Badge 1"/>
          <p:cNvSpPr/>
          <p:nvPr/>
        </p:nvSpPr>
        <p:spPr>
          <a:xfrm>
            <a:off x="5943600" y="138988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325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Planner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Decomposes goals into tasks</a:t>
            </a:r>
            <a:endParaRPr lang="en-US" sz="1400" dirty="0"/>
          </a:p>
        </p:txBody>
      </p:sp>
      <p:sp>
        <p:nvSpPr>
          <p:cNvPr id="10" name="Role card Researcher"/>
          <p:cNvSpPr/>
          <p:nvPr/>
        </p:nvSpPr>
        <p:spPr>
          <a:xfrm>
            <a:off x="5806440" y="2057400"/>
            <a:ext cx="2880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1" name="Badge 2"/>
          <p:cNvSpPr/>
          <p:nvPr/>
        </p:nvSpPr>
        <p:spPr>
          <a:xfrm>
            <a:off x="5943600" y="221284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Researcher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Retrieves data via search tools</a:t>
            </a:r>
            <a:endParaRPr lang="en-US" sz="1400" dirty="0"/>
          </a:p>
        </p:txBody>
      </p:sp>
      <p:sp>
        <p:nvSpPr>
          <p:cNvPr id="14" name="Role card Executor"/>
          <p:cNvSpPr/>
          <p:nvPr/>
        </p:nvSpPr>
        <p:spPr>
          <a:xfrm>
            <a:off x="5806440" y="2880360"/>
            <a:ext cx="2880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5943600" y="303580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Executor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Runs code and API calls</a:t>
            </a:r>
            <a:endParaRPr lang="en-US" sz="1400" dirty="0"/>
          </a:p>
        </p:txBody>
      </p:sp>
      <p:sp>
        <p:nvSpPr>
          <p:cNvPr id="18" name="Role card Validator"/>
          <p:cNvSpPr/>
          <p:nvPr/>
        </p:nvSpPr>
        <p:spPr>
          <a:xfrm>
            <a:off x="5806440" y="3703320"/>
            <a:ext cx="2880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Badge 4"/>
          <p:cNvSpPr/>
          <p:nvPr/>
        </p:nvSpPr>
        <p:spPr>
          <a:xfrm>
            <a:off x="5943600" y="3858768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794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Checks output, triggers retries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Testing &amp; reliability validation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 layer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is checked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Pass criterion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Unit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Tool interfaces, handler chain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Contracts hold with mocked tools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Integration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Orchestrator + Redis + LLM stub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Tasks complete end to end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Fault injection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Tool timeouts, LLM errors, bad JSON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Recovers via retry or fallback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Trace audit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Decision log for every task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task without a full trace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Mechanism Retry with backoff"/>
          <p:cNvSpPr/>
          <p:nvPr/>
        </p:nvSpPr>
        <p:spPr>
          <a:xfrm>
            <a:off x="457200" y="3794760"/>
            <a:ext cx="25603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Retry with backoff</a:t>
            </a:r>
            <a:endParaRPr lang="en-US" sz="1600" dirty="0"/>
          </a:p>
        </p:txBody>
      </p:sp>
      <p:sp>
        <p:nvSpPr>
          <p:cNvPr id="6" name="Mechanism Per-call timeouts"/>
          <p:cNvSpPr/>
          <p:nvPr/>
        </p:nvSpPr>
        <p:spPr>
          <a:xfrm>
            <a:off x="3291840" y="3794760"/>
            <a:ext cx="256032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9184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Per-call timeouts</a:t>
            </a:r>
            <a:endParaRPr lang="en-US" sz="1600" dirty="0"/>
          </a:p>
        </p:txBody>
      </p:sp>
      <p:sp>
        <p:nvSpPr>
          <p:cNvPr id="8" name="Mechanism Idempotent commands"/>
          <p:cNvSpPr/>
          <p:nvPr/>
        </p:nvSpPr>
        <p:spPr>
          <a:xfrm>
            <a:off x="6126480" y="3794760"/>
            <a:ext cx="256032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Idempotent commands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RELIABILITY MECHANISMS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Stack card Python"/>
          <p:cNvSpPr/>
          <p:nvPr/>
        </p:nvSpPr>
        <p:spPr>
          <a:xfrm>
            <a:off x="45720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Stack badge Python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Agent runtime, abstract base classes, async execution</a:t>
            </a:r>
            <a:endParaRPr lang="en-US" sz="1400" dirty="0"/>
          </a:p>
        </p:txBody>
      </p:sp>
      <p:sp>
        <p:nvSpPr>
          <p:cNvPr id="8" name="Stack card LLM API"/>
          <p:cNvSpPr/>
          <p:nvPr/>
        </p:nvSpPr>
        <p:spPr>
          <a:xfrm>
            <a:off x="256032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Stack badge LLM API"/>
          <p:cNvSpPr/>
          <p:nvPr/>
        </p:nvSpPr>
        <p:spPr>
          <a:xfrm>
            <a:off x="274320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LLM API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468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Reasoning, planning and tool-calling for each agent</a:t>
            </a:r>
            <a:endParaRPr lang="en-US" sz="1400" dirty="0"/>
          </a:p>
        </p:txBody>
      </p:sp>
      <p:sp>
        <p:nvSpPr>
          <p:cNvPr id="13" name="Stack card Redis"/>
          <p:cNvSpPr/>
          <p:nvPr/>
        </p:nvSpPr>
        <p:spPr>
          <a:xfrm>
            <a:off x="466344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4" name="Stack badge Redis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Redis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68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Task queue, shared state, agent registry</a:t>
            </a:r>
            <a:endParaRPr lang="en-US" sz="1400" dirty="0"/>
          </a:p>
        </p:txBody>
      </p:sp>
      <p:sp>
        <p:nvSpPr>
          <p:cNvPr id="18" name="Stack card PlantUML"/>
          <p:cNvSpPr/>
          <p:nvPr/>
        </p:nvSpPr>
        <p:spPr>
          <a:xfrm>
            <a:off x="676656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9" name="Stack badge PlantUML"/>
          <p:cNvSpPr/>
          <p:nvPr/>
        </p:nvSpPr>
        <p:spPr>
          <a:xfrm>
            <a:off x="6949440" y="14630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PlantUML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468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Case, Class, Sequence and Activity diagrams as code</a:t>
            </a:r>
            <a:endParaRPr lang="en-US" sz="1400" dirty="0"/>
          </a:p>
        </p:txBody>
      </p:sp>
      <p:sp>
        <p:nvSpPr>
          <p:cNvPr id="23" name="Outcome band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DELIVERABLES  </a:t>
            </a:r>
            <a:r>
              <a:rPr lang="en-US" sz="1600" dirty="0">
                <a:solidFill>
                  <a:schemeClr val="bg1"/>
                </a:solidFill>
              </a:rPr>
              <a:t>Four UML diagrams, five modelled entities, a working orchestrator with traceable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Summary &amp; next steps</a:t>
            </a:r>
            <a:endParaRPr lang="en-US" sz="3400" dirty="0"/>
          </a:p>
        </p:txBody>
      </p:sp>
      <p:sp>
        <p:nvSpPr>
          <p:cNvPr id="3" name="Outcome card 0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4" name="Outcome badge 0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task completion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Retries, timeouts and fallbacks keep workflows moving.</a:t>
            </a:r>
            <a:endParaRPr lang="en-US" sz="1400" dirty="0"/>
          </a:p>
        </p:txBody>
      </p:sp>
      <p:sp>
        <p:nvSpPr>
          <p:cNvPr id="7" name="Outcome card 1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</p:sp>
      <p:sp>
        <p:nvSpPr>
          <p:cNvPr id="8" name="Outcome badge 1"/>
          <p:cNvSpPr/>
          <p:nvPr/>
        </p:nvSpPr>
        <p:spPr>
          <a:xfrm>
            <a:off x="4892040" y="150876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 decisions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Every routing choice and tool call is logged.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Render the four PlantUML diagrams from the models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Implement the orchestrator and the four agent roles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fault-injection tests and review the decision traces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Orchestration">
  <a:themeElements>
    <a:clrScheme name="AgentOrchestration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D9488"/>
      </a:accent1>
      <a:accent2>
        <a:srgbClr val="F59E0B"/>
      </a:accent2>
      <a:accent3>
        <a:srgbClr val="475569"/>
      </a:accent3>
      <a:accent4>
        <a:srgbClr val="E11D48"/>
      </a:accent4>
      <a:accent5>
        <a:srgbClr val="99F6E4"/>
      </a:accent5>
      <a:accent6>
        <a:srgbClr val="94A3B8"/>
      </a:accent6>
      <a:hlink>
        <a:srgbClr val="0D9488"/>
      </a:hlink>
      <a:folHlink>
        <a:srgbClr val="475569"/>
      </a:folHlink>
    </a:clrScheme>
    <a:fontScheme name="AgentOrchestr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Microsoft Office PowerPoint</Application>
  <PresentationFormat>On-screen Show (16:9)</PresentationFormat>
  <Paragraphs>274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AgentOrchestration</vt:lpstr>
      <vt:lpstr>Multi-Agent AI Task Orchestration Platform</vt:lpstr>
      <vt:lpstr>Why orchestration matters</vt:lpstr>
      <vt:lpstr>Project roadmap: three modules</vt:lpstr>
      <vt:lpstr>Module 1: what the platform must do</vt:lpstr>
      <vt:lpstr>Use Case diagram</vt:lpstr>
      <vt:lpstr>Class diagram: core entities</vt:lpstr>
      <vt:lpstr>Layered architecture</vt:lpstr>
      <vt:lpstr>Design patterns applied</vt:lpstr>
      <vt:lpstr>Sequence diagram: one task</vt:lpstr>
      <vt:lpstr>Activity diagram: task lifecycle</vt:lpstr>
      <vt:lpstr>Agent roles &amp; tool interfaces</vt:lpstr>
      <vt:lpstr>Testing &amp; reliability validation</vt:lpstr>
      <vt:lpstr>Technology stack</vt:lpstr>
      <vt:lpstr>Summary &amp;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AI Task Orchestration Platform</dc:title>
  <dc:subject>PptxGenJS Presentation</dc:subject>
  <dc:creator>PptxGenJS</dc:creator>
  <cp:lastModifiedBy>Madhavan Maddy</cp:lastModifiedBy>
  <cp:revision>2</cp:revision>
  <dcterms:created xsi:type="dcterms:W3CDTF">2026-10-15T17:55:30Z</dcterms:created>
  <dcterms:modified xsi:type="dcterms:W3CDTF">2026-10-15T17:58:34Z</dcterms:modified>
</cp:coreProperties>
</file>